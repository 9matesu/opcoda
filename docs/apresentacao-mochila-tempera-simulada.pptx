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FATEC CRUZEIRO · PROGRAMAÇÃO LINEAR / OTIMIZAÇÃO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00"/>
                </a:solidFill>
                <a:latin typeface="Arial"/>
              </a:defRPr>
            </a:pPr>
            <a:r>
              <a:t>TRABALHO ACADÊMICO DE OTIMIZAÇÃO · PROJETO OPCODA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59105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21518"/>
                </a:solidFill>
                <a:latin typeface="Arial"/>
              </a:defRPr>
            </a:pPr>
            <a:r>
              <a:t>Aplicação de Têmpera Simulada</a:t>
            </a:r>
            <a:br/>
            <a:r>
              <a:t>no Problema da Mochila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159105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A6065"/>
                </a:solidFill>
                <a:latin typeface="Arial"/>
              </a:defRPr>
            </a:pPr>
            <a:r>
              <a:t>Uma aplicação experimental no contexto do Opcoda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6217920"/>
            <a:ext cx="9601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6217920"/>
            <a:ext cx="164592" cy="20116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6446520"/>
            <a:ext cx="8686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518"/>
                </a:solidFill>
                <a:latin typeface="Arial"/>
              </a:defRPr>
            </a:pPr>
            <a:r>
              <a:t>Mateus Costa · Rafael Elisei</a:t>
            </a:r>
          </a:p>
          <a:p>
            <a:pPr>
              <a:spcBef>
                <a:spcPts val="800"/>
              </a:spcBef>
              <a:defRPr sz="1800">
                <a:solidFill>
                  <a:srgbClr val="5A6065"/>
                </a:solidFill>
                <a:latin typeface="Arial"/>
              </a:defRPr>
            </a:pPr>
            <a:r>
              <a:t>5º semestre · Análise e Desenvolvimento de Sistemas</a:t>
            </a:r>
            <a:br/>
            <a:r>
              <a:t>FATEC Cruzeiro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FUNDAMENTAÇÃO ·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O que é o Opcoda?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591055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Instrumento virtual experimental em tempo real</a:t>
            </a:r>
          </a:p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Converte dados de arquivos executáveis (.exe) em material sonoro</a:t>
            </a:r>
          </a:p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Utiliza síntese granular para a geração acústica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621792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49224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A00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6217920"/>
            <a:ext cx="20116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49224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A00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6217920"/>
            <a:ext cx="2103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BLOCOS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9224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A00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6217920"/>
            <a:ext cx="20116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GRÃOS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822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A00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35840" y="6217920"/>
            <a:ext cx="1828800" cy="1280160"/>
          </a:xfrm>
          <a:prstGeom prst="rect">
            <a:avLst/>
          </a:prstGeom>
          <a:solidFill>
            <a:srgbClr val="FF9A00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MOTIVAÇÃO · 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Onde entra a otimização?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926080"/>
            <a:ext cx="146304" cy="11430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154680"/>
            <a:ext cx="1508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121518"/>
                </a:solidFill>
                <a:latin typeface="Arial"/>
              </a:defRPr>
            </a:pPr>
            <a:r>
              <a:t>O arquivo gera muitos blocos de dados.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343400"/>
            <a:ext cx="1591970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343400"/>
            <a:ext cx="146304" cy="11430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572000"/>
            <a:ext cx="1508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121518"/>
                </a:solidFill>
                <a:latin typeface="Arial"/>
              </a:defRPr>
            </a:pPr>
            <a:r>
              <a:t>Nem todos são interessantes para a síntese sonora.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5760720"/>
            <a:ext cx="1591970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146304" cy="11430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989320"/>
            <a:ext cx="1508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0">
                <a:solidFill>
                  <a:srgbClr val="121518"/>
                </a:solidFill>
                <a:latin typeface="Arial"/>
              </a:defRPr>
            </a:pPr>
            <a:r>
              <a:t>Existe uma capacidade limitada de processamento e tempo.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7178040"/>
            <a:ext cx="15919704" cy="114300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8720" y="7178040"/>
            <a:ext cx="146304" cy="11430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7406640"/>
            <a:ext cx="1508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9A00"/>
                </a:solidFill>
                <a:latin typeface="Arial"/>
              </a:defRPr>
            </a:pPr>
            <a:r>
              <a:t>Precisamos escolher os melhores blocos.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CONCEITO CENTRAL · DO BYTE AO 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Do byte ao 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743200"/>
            <a:ext cx="15919704" cy="1188720"/>
          </a:xfrm>
          <a:prstGeom prst="rect">
            <a:avLst/>
          </a:prstGeom>
          <a:solidFill>
            <a:srgbClr val="0E10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ARQUIVO .EXE (DADOS BINÁRIOS)   →   [ Bloco A ]  [ Bloco B ]  [ Bloco C ]  [ Bloco D ]  [ Bloco 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206240"/>
            <a:ext cx="15919704" cy="658368"/>
          </a:xfrm>
          <a:prstGeom prst="rect">
            <a:avLst/>
          </a:prstGeom>
          <a:solidFill>
            <a:srgbClr val="FFFDF9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A00"/>
                </a:solidFill>
                <a:latin typeface="Consolas"/>
              </a:defRPr>
            </a:pPr>
            <a:r>
              <a:t>BLOCO A    █████████████    →   interessante (alto valor)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956048"/>
            <a:ext cx="15919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5A6065"/>
                </a:solidFill>
                <a:latin typeface="Consolas"/>
              </a:defRPr>
            </a:pPr>
            <a:r>
              <a:t>BLOCO B    ███    →   pouco relevante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705855"/>
            <a:ext cx="15919704" cy="658368"/>
          </a:xfrm>
          <a:prstGeom prst="rect">
            <a:avLst/>
          </a:prstGeom>
          <a:solidFill>
            <a:srgbClr val="FFFDF9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A00"/>
                </a:solidFill>
                <a:latin typeface="Consolas"/>
              </a:defRPr>
            </a:pPr>
            <a:r>
              <a:t>BLOCO C    ████████████████    →   interessante (alto valor)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6455664"/>
            <a:ext cx="15919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5A6065"/>
                </a:solidFill>
                <a:latin typeface="Consolas"/>
              </a:defRPr>
            </a:pPr>
            <a:r>
              <a:t>BLOCO D    ██    →   pouco relevante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7205471"/>
            <a:ext cx="15919704" cy="658368"/>
          </a:xfrm>
          <a:prstGeom prst="rect">
            <a:avLst/>
          </a:prstGeom>
          <a:solidFill>
            <a:srgbClr val="FFFDF9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A00"/>
                </a:solidFill>
                <a:latin typeface="Consolas"/>
              </a:defRPr>
            </a:pPr>
            <a:r>
              <a:t>BLOCO E    ███████████    →   interessante (alto valor)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8138160"/>
            <a:ext cx="1591970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TÊMPERA SIMULADA SELECIONA:    BLOCO A  +  BLOCO C  +  BLOCO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MODELAGEM · ANALOGIA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Problema da Mochila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5919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A6065"/>
                </a:solidFill>
                <a:latin typeface="Arial"/>
              </a:defRPr>
            </a:pPr>
            <a:r>
              <a:t>BLOCOS CANDIDATOS DISPONÍVEIS: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291840"/>
            <a:ext cx="2743200" cy="11887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BLOCO A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291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BLOCO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291840"/>
            <a:ext cx="2743200" cy="11887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BLOCO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0" y="3291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BLOCO 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56080" y="3291840"/>
            <a:ext cx="2743200" cy="11887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BLOCO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6634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9A00"/>
                </a:solidFill>
              </a:defRPr>
            </a:pPr>
            <a: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303520"/>
            <a:ext cx="100584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A6065"/>
                </a:solidFill>
                <a:latin typeface="Arial"/>
              </a:defRPr>
            </a:pPr>
            <a:r>
              <a:t>MOCHILA (CAPACIDADE LIMITADA = C)</a:t>
            </a:r>
          </a:p>
          <a:p>
            <a:pPr algn="ctr">
              <a:spcBef>
                <a:spcPts val="1400"/>
              </a:spcBef>
              <a:defRPr sz="3000" b="1">
                <a:solidFill>
                  <a:srgbClr val="FF9A00"/>
                </a:solidFill>
                <a:latin typeface="Arial"/>
              </a:defRPr>
            </a:pPr>
            <a:r>
              <a:t>[  BLOCO A    ·    BLOCO C    ·    BLOCO E 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7955279"/>
            <a:ext cx="15919704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1518"/>
                </a:solidFill>
                <a:latin typeface="Arial"/>
              </a:defRPr>
            </a:pPr>
            <a:r>
              <a:t>“Selecionar blocos de maior relevância dentro de uma capacidade limitada.”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MODELAGEM · VETOR BINÁRIO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Como a solução é representada?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5A6065"/>
                </a:solidFill>
                <a:latin typeface="Consolas"/>
              </a:defRPr>
            </a:pPr>
            <a:r>
              <a:t>BLOCOS:       [    A   ,    B   ,    C   ,    D   ,    E    ]</a:t>
            </a:r>
          </a:p>
          <a:p>
            <a:pPr algn="ctr">
              <a:spcBef>
                <a:spcPts val="1400"/>
              </a:spcBef>
              <a:defRPr sz="3600" b="1">
                <a:solidFill>
                  <a:srgbClr val="FF9A00"/>
                </a:solidFill>
                <a:latin typeface="Consolas"/>
              </a:defRPr>
            </a:pPr>
            <a:r>
              <a:t>SOLUÇÃO:      [    1   ,    0   ,    1   ,    0   ,    1  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760720"/>
            <a:ext cx="15919704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500" b="0">
                <a:solidFill>
                  <a:srgbClr val="121518"/>
                </a:solidFill>
                <a:latin typeface="Arial"/>
              </a:defRPr>
            </a:pPr>
            <a:r>
              <a:t>■   1  →  bloco selecionado para a síntese</a:t>
            </a:r>
          </a:p>
          <a:p>
            <a:pPr>
              <a:spcAft>
                <a:spcPts val="1600"/>
              </a:spcAft>
              <a:defRPr sz="2500" b="0">
                <a:solidFill>
                  <a:srgbClr val="121518"/>
                </a:solidFill>
                <a:latin typeface="Arial"/>
              </a:defRPr>
            </a:pPr>
            <a:r>
              <a:t>■   0  →  bloco descartado</a:t>
            </a:r>
          </a:p>
          <a:p>
            <a:pPr>
              <a:spcAft>
                <a:spcPts val="1600"/>
              </a:spcAft>
              <a:defRPr sz="2500" b="1">
                <a:solidFill>
                  <a:srgbClr val="FF9A00"/>
                </a:solidFill>
                <a:latin typeface="Arial"/>
              </a:defRPr>
            </a:pPr>
            <a:r>
              <a:t>■   Restrição: Peso Total ≤ Capacidade (C)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METAHEURÍSTICA · CONCEITO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O que é Têmpera Simulada?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5919704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Metaheurística de otimização inspirada no resfriamento de materiais</a:t>
            </a:r>
          </a:p>
          <a:p>
            <a:pPr>
              <a:spcAft>
                <a:spcPts val="20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Explora diferentes combinações de blocos no espaço de soluções</a:t>
            </a:r>
          </a:p>
          <a:p>
            <a:pPr>
              <a:spcAft>
                <a:spcPts val="20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Pode aceitar soluções piores temporariamente ao longo da busca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5943600"/>
            <a:ext cx="15919704" cy="219456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5943600"/>
            <a:ext cx="182880" cy="219456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6309360"/>
            <a:ext cx="1508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518"/>
                </a:solidFill>
                <a:latin typeface="Arial"/>
              </a:defRPr>
            </a:pPr>
            <a:r>
              <a:t>“A Têmpera Simulada permite aceitar temporariamente uma solução pior para escapar de ótimos locais.”</a:t>
            </a:r>
          </a:p>
          <a:p>
            <a:pPr>
              <a:spcBef>
                <a:spcPts val="1200"/>
              </a:spcBef>
              <a:defRPr sz="1800">
                <a:solidFill>
                  <a:srgbClr val="5A6065"/>
                </a:solidFill>
                <a:latin typeface="Arial"/>
              </a:defRPr>
            </a:pPr>
            <a:r>
              <a:t>Kirkpatrick, Gelatt e Vecchi (1983)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FUNCIONAMENTO · VIZINHANÇA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Como o algoritmo procura?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21518"/>
                </a:solidFill>
                <a:latin typeface="Consolas"/>
              </a:defRPr>
            </a:pPr>
            <a:r>
              <a:t>SOLUÇÃO ATUAL:      [  1 ,   0 ,   1 ,   0 ,   1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2976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A00"/>
                </a:solidFill>
              </a:defRPr>
            </a:pPr>
            <a:r>
              <a:t>↓  inverte um bloco (bit flip)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029200"/>
            <a:ext cx="15919704" cy="128016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9A00"/>
                </a:solidFill>
                <a:latin typeface="Consolas"/>
              </a:defRPr>
            </a:pPr>
            <a:r>
              <a:t>NOVA SOLUÇÃO:       [  1 ,   1 ,   1 ,   0 ,   1 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6675120"/>
            <a:ext cx="15919704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A6065"/>
                </a:solidFill>
                <a:latin typeface="Arial"/>
              </a:defRPr>
            </a:pPr>
            <a:r>
              <a:t>A NOVA SOLUÇÃO É MELHOR?</a:t>
            </a:r>
          </a:p>
          <a:p>
            <a:pPr algn="ctr">
              <a:spcBef>
                <a:spcPts val="1200"/>
              </a:spcBef>
              <a:defRPr sz="2400" b="1">
                <a:solidFill>
                  <a:srgbClr val="121518"/>
                </a:solidFill>
                <a:latin typeface="Arial"/>
              </a:defRPr>
            </a:pPr>
            <a:r>
              <a:t>SIM  →  ACEITA IMEDIATAMENTE          |          NÃO  →  PODE ACEITAR (PROBABILIDADE)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CRITÉRIO DE METROPOLIS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Por que aceitar uma solução pior?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731520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9A00"/>
                </a:solidFill>
                <a:latin typeface="Arial"/>
              </a:defRPr>
            </a:pPr>
            <a:r>
              <a:t>P  =  e^( Δ / T )</a:t>
            </a:r>
          </a:p>
          <a:p>
            <a:pPr algn="ctr"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Probabilidade de aceitar piora (Metropolis)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926080"/>
            <a:ext cx="8147304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A6065"/>
                </a:solidFill>
                <a:latin typeface="Arial"/>
              </a:defRPr>
            </a:pPr>
            <a:r>
              <a:t>EXEMPLO PRÁTICO:</a:t>
            </a:r>
          </a:p>
          <a:p>
            <a:pPr>
              <a:spcBef>
                <a:spcPts val="600"/>
              </a:spcBef>
              <a:defRPr sz="2000" b="1">
                <a:solidFill>
                  <a:srgbClr val="121518"/>
                </a:solidFill>
                <a:latin typeface="Arial"/>
              </a:defRPr>
            </a:pPr>
            <a:r>
              <a:t>Solução atual = 100    →    Nova solução = 90  (Piorou)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394960"/>
            <a:ext cx="15919704" cy="146304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A00"/>
                </a:solidFill>
                <a:latin typeface="Arial"/>
              </a:defRPr>
            </a:pPr>
            <a:r>
              <a:t>TEMPERATURA ALTA (início):</a:t>
            </a:r>
          </a:p>
          <a:p>
            <a:pPr>
              <a:spcBef>
                <a:spcPts val="400"/>
              </a:spcBef>
              <a:defRPr sz="2200">
                <a:solidFill>
                  <a:srgbClr val="121518"/>
                </a:solidFill>
              </a:defRPr>
            </a:pPr>
            <a:r>
              <a:t>Ainda pode aceitar a solução pior para explorar novas combinações.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7132320"/>
            <a:ext cx="15919704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5A6065"/>
                </a:solidFill>
                <a:latin typeface="Arial"/>
              </a:defRPr>
            </a:pPr>
            <a:r>
              <a:t>TEMPERATURA BAIXA (fim):</a:t>
            </a:r>
          </a:p>
          <a:p>
            <a:pPr>
              <a:spcBef>
                <a:spcPts val="400"/>
              </a:spcBef>
              <a:defRPr sz="2200">
                <a:solidFill>
                  <a:srgbClr val="121518"/>
                </a:solidFill>
              </a:defRPr>
            </a:pPr>
            <a:r>
              <a:t>Provavelmente rejeita a solução pior, tornando a busca estritamente seletiva.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PARÂMETROS · RESFRIAMENTO TÉRMICO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Temperatura e resfriamento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7315200" cy="438912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A00"/>
                </a:solidFill>
                <a:latin typeface="Arial"/>
              </a:defRPr>
            </a:pPr>
            <a:r>
              <a:t>CURVA DE RESFRIAMENTO</a:t>
            </a:r>
            <a:br/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100 ───────┐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          │  alta exploração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50 ───    │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          │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10 ──     │  alta seleção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          │</a:t>
            </a:r>
          </a:p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  0 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926080"/>
            <a:ext cx="8147304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T₀   ·   Começo da busca</a:t>
            </a:r>
          </a:p>
          <a:p>
            <a:pPr>
              <a:spcBef>
                <a:spcPts val="400"/>
              </a:spcBef>
              <a:defRPr sz="1700">
                <a:solidFill>
                  <a:srgbClr val="121518"/>
                </a:solidFill>
                <a:latin typeface="Arial"/>
              </a:defRPr>
            </a:pPr>
            <a:r>
              <a:t>Temperatura inicial alta (ampla exploração)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4434840"/>
            <a:ext cx="8147304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Tmin   ·   Fim da busca</a:t>
            </a:r>
          </a:p>
          <a:p>
            <a:pPr>
              <a:spcBef>
                <a:spcPts val="400"/>
              </a:spcBef>
              <a:defRPr sz="1700">
                <a:solidFill>
                  <a:srgbClr val="121518"/>
                </a:solidFill>
                <a:latin typeface="Arial"/>
              </a:defRPr>
            </a:pPr>
            <a:r>
              <a:t>Temperatura final (critério de parada)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5943600"/>
            <a:ext cx="8147304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A00"/>
                </a:solidFill>
                <a:latin typeface="Arial"/>
              </a:defRPr>
            </a:pPr>
            <a:r>
              <a:t>α   ·   Velocidade do resfriamento</a:t>
            </a:r>
          </a:p>
          <a:p>
            <a:pPr>
              <a:spcBef>
                <a:spcPts val="400"/>
              </a:spcBef>
              <a:defRPr sz="1700">
                <a:solidFill>
                  <a:srgbClr val="121518"/>
                </a:solidFill>
                <a:latin typeface="Arial"/>
              </a:defRPr>
            </a:pPr>
            <a:r>
              <a:t>Fator de redução geométrico:  Tnovo = α · Tatual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7680960"/>
            <a:ext cx="15919704" cy="11887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Alta temperatura → mais liberdade para explorar         |         Baixa temperatura → busca mais seletiva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ARQUITETURA · VISÃO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Fluxo completo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3749039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1. .EXE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Arquivo executável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3017520"/>
            <a:ext cx="3749039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2. BLOCOS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Dados particionados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3017520"/>
            <a:ext cx="3749039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3. CARACTERÍSTICAS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Relevância / peso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95960" y="3017520"/>
            <a:ext cx="3749039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4. MOCHILA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Restrição de capacidade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5486400"/>
            <a:ext cx="4023360" cy="2011680"/>
          </a:xfrm>
          <a:prstGeom prst="rect">
            <a:avLst/>
          </a:prstGeom>
          <a:solidFill>
            <a:srgbClr val="FFFDF9"/>
          </a:solidFill>
          <a:ln w="317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9A00"/>
                </a:solidFill>
                <a:latin typeface="Arial"/>
              </a:defRPr>
            </a:pPr>
            <a:r>
              <a:t>5. TÊMPERA SIMULADA</a:t>
            </a:r>
          </a:p>
          <a:p>
            <a:pPr>
              <a:spcBef>
                <a:spcPts val="800"/>
              </a:spcBef>
              <a:defRPr sz="1600">
                <a:solidFill>
                  <a:srgbClr val="121518"/>
                </a:solidFill>
              </a:defRPr>
            </a:pPr>
            <a:r>
              <a:t>Otimização metaheurística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5486400"/>
            <a:ext cx="40233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6. BLOCOS SELECIONADOS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Melhor combinação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59" y="5486400"/>
            <a:ext cx="40233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  <a:latin typeface="Arial"/>
              </a:defRPr>
            </a:pPr>
            <a:r>
              <a:t>7. SÍNTESE GRANULAR</a:t>
            </a:r>
          </a:p>
          <a:p>
            <a:pPr>
              <a:spcBef>
                <a:spcPts val="800"/>
              </a:spcBef>
              <a:defRPr sz="1600">
                <a:solidFill>
                  <a:srgbClr val="5A6065"/>
                </a:solidFill>
              </a:defRPr>
            </a:pPr>
            <a:r>
              <a:t>Geração de áudio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8046720"/>
            <a:ext cx="159197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A Têmpera Simulada atua como filtro seletivo ótimo antes da síntese granular.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METODOLOGIA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Como avaliar?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5919704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Comparar o valor da solução inicial com a solução otimizada</a:t>
            </a:r>
          </a:p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Verificar o aproveitamento da capacidade disponível da mochila</a:t>
            </a:r>
          </a:p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Acompanhar o número de iterações até a estabilização do valor</a:t>
            </a:r>
          </a:p>
          <a:p>
            <a:pPr>
              <a:spcAft>
                <a:spcPts val="2200"/>
              </a:spcAft>
              <a:defRPr sz="2500">
                <a:solidFill>
                  <a:srgbClr val="121518"/>
                </a:solidFill>
                <a:latin typeface="Arial"/>
              </a:defRPr>
            </a:pPr>
            <a:r>
              <a:t>■   Avaliar a sensibilidade a diferentes velocidades de resfriamento (α)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6583680"/>
            <a:ext cx="1591970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518"/>
                </a:solidFill>
                <a:latin typeface="Arial"/>
              </a:defRPr>
            </a:pPr>
            <a:r>
              <a:t>Etapa experimental a ser realizada.</a:t>
            </a:r>
          </a:p>
          <a:p>
            <a:pPr>
              <a:spcBef>
                <a:spcPts val="800"/>
              </a:spcBef>
              <a:defRPr sz="1800">
                <a:solidFill>
                  <a:srgbClr val="5A6065"/>
                </a:solidFill>
              </a:defRPr>
            </a:pPr>
            <a:r>
              <a:t>Apresentamos o modelo e a arquitetura; os dados numéricos serão medidos nos testes com o Opcoda.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CONCLUSÃO · 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159197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21518"/>
                </a:solidFill>
                <a:latin typeface="Arial"/>
              </a:defRPr>
            </a:pPr>
            <a:r>
              <a:t>Opcoda + Têmpera Simulada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749039"/>
            <a:ext cx="21945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518"/>
                </a:solidFill>
                <a:latin typeface="Arial"/>
              </a:defRPr>
            </a:pPr>
            <a:r>
              <a:t>DADOS BINÁRIOS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3840480"/>
            <a:ext cx="548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A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749039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518"/>
                </a:solidFill>
                <a:latin typeface="Arial"/>
              </a:defRPr>
            </a:pPr>
            <a:r>
              <a:t>PROBLEMA DA MOCHILA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3840480"/>
            <a:ext cx="548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A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749039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518"/>
                </a:solidFill>
                <a:latin typeface="Arial"/>
              </a:defRPr>
            </a:pPr>
            <a:r>
              <a:t>TÊMPERA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19" y="3840480"/>
            <a:ext cx="548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A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3749039"/>
            <a:ext cx="21945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518"/>
                </a:solidFill>
                <a:latin typeface="Arial"/>
              </a:defRPr>
            </a:pPr>
            <a:r>
              <a:t>SÍNTESE GRANULAR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0" y="3840480"/>
            <a:ext cx="548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A00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624560" y="3749039"/>
            <a:ext cx="1828800" cy="1097280"/>
          </a:xfrm>
          <a:prstGeom prst="rect">
            <a:avLst/>
          </a:prstGeom>
          <a:solidFill>
            <a:srgbClr val="FF9A0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OPCODA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5943600"/>
            <a:ext cx="10058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21518"/>
                </a:solidFill>
                <a:latin typeface="Arial"/>
              </a:defRPr>
            </a:pPr>
            <a:r>
              <a:t>Mateus Costa · Rafael Elisei</a:t>
            </a:r>
          </a:p>
          <a:p>
            <a:pPr algn="ctr">
              <a:spcBef>
                <a:spcPts val="800"/>
              </a:spcBef>
              <a:defRPr sz="1800">
                <a:solidFill>
                  <a:srgbClr val="5A6065"/>
                </a:solidFill>
                <a:latin typeface="Arial"/>
              </a:defRPr>
            </a:pPr>
            <a:r>
              <a:t>5º semestre · ADS · FATEC Cruzeiro · Programação Linear / Otimização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TÊMPERA SIMULADA NA MOCHILA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SLIDE RESERVA · FORMULAÇÃO MATEMÁTICA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Formulação matemática formal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9A00"/>
                </a:solidFill>
                <a:latin typeface="Arial"/>
              </a:defRPr>
            </a:pPr>
            <a:r>
              <a:t>max   ∑ (vᵢ · xᵢ)</a:t>
            </a:r>
          </a:p>
          <a:p>
            <a:pPr>
              <a:spcBef>
                <a:spcPts val="1200"/>
              </a:spcBef>
              <a:defRPr sz="3000" b="1">
                <a:solidFill>
                  <a:srgbClr val="121518"/>
                </a:solidFill>
                <a:latin typeface="Arial"/>
              </a:defRPr>
            </a:pPr>
            <a:r>
              <a:t>sujeito a:   ∑ (wᵢ · xᵢ)  ≤  C</a:t>
            </a:r>
          </a:p>
          <a:p>
            <a:pPr>
              <a:spcBef>
                <a:spcPts val="1200"/>
              </a:spcBef>
              <a:defRPr sz="2400">
                <a:solidFill>
                  <a:srgbClr val="5A6065"/>
                </a:solidFill>
                <a:latin typeface="Arial"/>
              </a:defRPr>
            </a:pPr>
            <a:r>
              <a:t>xᵢ  ∈  { 0, 1 }      para todo i = 1, ..., 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MATERIAL COMPLEMENTAR (BACKUP)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BACKUP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SLIDE RESERVA · PSEUDOCÓDIGO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Pseudocódigo completo do algoritmo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59436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08960"/>
            <a:ext cx="15087600" cy="557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GERAR solução inicial viável S (peso ≤ C)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AVALIAR solução inicial: V(S)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T = T₀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ENQUANTO T &gt; Tmin: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    GERAR vizinha S' por mutação (bit flip)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    SE S' viável (peso ≤ C):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        Δ = V(S') − V(S)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        SE Δ &gt; 0: S = S'   // aceita melhoria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        SENÃO SE random(0, 1) &lt; exp(Δ / T): S = S'   // aceita piora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    REDUZIR temperatura: T = α · T</a:t>
            </a:r>
          </a:p>
          <a:p>
            <a:pPr>
              <a:spcAft>
                <a:spcPts val="600"/>
              </a:spcAft>
              <a:defRPr sz="2000">
                <a:solidFill>
                  <a:srgbClr val="FF9A00"/>
                </a:solidFill>
                <a:latin typeface="Consolas"/>
              </a:defRPr>
            </a:pPr>
            <a:r>
              <a:t>RETORNAR melhor solução encontrada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MATERIAL COMPLEMENTAR (BACKUP)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BACKUP 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5836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6065"/>
                </a:solidFill>
                <a:latin typeface="Arial"/>
              </a:defRPr>
            </a:pPr>
            <a:r>
              <a:t>SLIDE RESERVA · REFERÊNCIAS ACADÊMICAS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15919704" cy="22860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15919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518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15919704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21518"/>
                </a:solidFill>
                <a:latin typeface="Arial"/>
              </a:defRPr>
            </a:pPr>
            <a:r>
              <a:t>KIRKPATRICK, S.; GELATT, C. D.; VECCHI, M. P. Optimization by Simulated Annealing. Science, 1983.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343400"/>
            <a:ext cx="15919704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21518"/>
                </a:solidFill>
                <a:latin typeface="Arial"/>
              </a:defRPr>
            </a:pPr>
            <a:r>
              <a:t>AARTS, E. H. L.; VAN LAARHOVEN, P. J. M. Simulated Annealing: An Introduction. 1989.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760720"/>
            <a:ext cx="15919704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21518"/>
                </a:solidFill>
                <a:latin typeface="Arial"/>
              </a:defRPr>
            </a:pPr>
            <a:r>
              <a:t>TRIKI, E.; COLLETTE, Y.; SIARRY, P. A Theoretical Study on the Behavior of Simulated Annealing. 2005.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7178040"/>
            <a:ext cx="15919704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21518"/>
                </a:solidFill>
                <a:latin typeface="Arial"/>
              </a:defRPr>
            </a:pPr>
            <a:r>
              <a:t>ROADS, Curtis. Microsound. MIT Press, 2004.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9281160"/>
            <a:ext cx="15919704" cy="18288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9372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OPCODA · MATERIAL COMPLEMENTAR (BACKUP)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0" y="9372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5A6065"/>
                </a:solidFill>
                <a:latin typeface="Arial"/>
              </a:defRPr>
            </a:pPr>
            <a:r>
              <a:t>BACKUP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