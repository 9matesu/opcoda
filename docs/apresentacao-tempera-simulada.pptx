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FATEC CRUZEIRO · PROGRAMAÇÃO LINEAR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9A00"/>
                </a:solidFill>
                <a:latin typeface="Arial"/>
              </a:defRPr>
            </a:pPr>
            <a:r>
              <a:t>TRABALHO DE OTIMIZAÇÃO · PROJETO OPCODA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21518"/>
                </a:solidFill>
                <a:latin typeface="Arial"/>
              </a:defRPr>
            </a:pPr>
            <a:r>
              <a:t>Aplicação de Têmpera Simulada no Opcoda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A6065"/>
                </a:solidFill>
                <a:latin typeface="Arial"/>
              </a:defRPr>
            </a:pPr>
            <a:r>
              <a:t>Otimização da ordenação de grãos sonoros derivados de arquivos executáveis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6858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9728" cy="137160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1518"/>
                </a:solidFill>
                <a:latin typeface="Arial"/>
              </a:defRPr>
            </a:pPr>
            <a:r>
              <a:t>Mateus Costa · Rafael Elisei</a:t>
            </a:r>
          </a:p>
          <a:p>
            <a:pPr>
              <a:defRPr sz="1600">
                <a:solidFill>
                  <a:srgbClr val="5A6065"/>
                </a:solidFill>
                <a:latin typeface="Arial"/>
              </a:defRPr>
            </a:pPr>
            <a:r>
              <a:t>5º semestre · Análise e Desenvolvimento de Sistemas</a:t>
            </a:r>
            <a:br/>
            <a:r>
              <a:t>FATEC Cruzeiro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FUNDAMENTAÇÃO ·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O que é o Opcoda?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Instrumento virtual experimental em tempo real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Arquivos executáveis (.exe) utilizados como matéria-prima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Dados binários convertidos diretamente em material sonoro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Síntese granular empregada para geração sonora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828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21518"/>
                </a:solidFill>
                <a:latin typeface="Arial"/>
              </a:defRPr>
            </a:pPr>
            <a:r>
              <a:t>ARQUIVO 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51206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502920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21518"/>
                </a:solidFill>
                <a:latin typeface="Arial"/>
              </a:defRPr>
            </a:pPr>
            <a: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1206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02920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21518"/>
                </a:solidFill>
                <a:latin typeface="Arial"/>
              </a:defRPr>
            </a:pPr>
            <a:r>
              <a:t>BLOCOS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1206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5029200"/>
            <a:ext cx="14630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21518"/>
                </a:solidFill>
                <a:latin typeface="Arial"/>
              </a:defRPr>
            </a:pPr>
            <a:r>
              <a:t>GRÃOS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1206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5029200"/>
            <a:ext cx="1463040" cy="731520"/>
          </a:xfrm>
          <a:prstGeom prst="rect">
            <a:avLst/>
          </a:prstGeom>
          <a:solidFill>
            <a:srgbClr val="FF9A0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21518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PROBLEMA · MOTIVAÇÃO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Onde entra a otimização?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Um arquivo pode gerar centenas de grãos sonoros</a:t>
            </a:r>
          </a:p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A ordem dos grãos altera diretamente as transições</a:t>
            </a:r>
          </a:p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Precisamos avaliar diferentes sequências de reprodução</a:t>
            </a:r>
          </a:p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O objetivo formal é minimizar uma função de custo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286000"/>
            <a:ext cx="44805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3774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1518"/>
                </a:solidFill>
                <a:latin typeface="Arial"/>
              </a:defRPr>
            </a:pPr>
            <a:r>
              <a:t>SEQUÊNCIA INICIAL</a:t>
            </a:r>
            <a:br/>
            <a:r>
              <a:t>A  →  B  →  C  →  D  →  E</a:t>
            </a:r>
          </a:p>
          <a:p>
            <a:pPr>
              <a:defRPr sz="1400">
                <a:solidFill>
                  <a:srgbClr val="5A6065"/>
                </a:solidFill>
              </a:defRPr>
            </a:pPr>
            <a:r>
              <a:t>Custo acumulado elevado (transições bruscas)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4206240"/>
            <a:ext cx="4480560" cy="164592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2976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SEQUÊNCIA REORDENADA</a:t>
            </a:r>
            <a:br/>
            <a:r>
              <a:t>A  →  D  →  B  →  E  →  C</a:t>
            </a:r>
          </a:p>
          <a:p>
            <a:pPr>
              <a:defRPr sz="1400">
                <a:solidFill>
                  <a:srgbClr val="121518"/>
                </a:solidFill>
              </a:defRPr>
            </a:pPr>
            <a:r>
              <a:t>Custo minimizado pelo algoritmo de otimização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MODELAGEM · ANALOGIA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Uma abordagem semelhante ao Caixeiro Viajante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94560"/>
          <a:ext cx="107277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870"/>
                <a:gridCol w="536387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Problema do Caixeiro Viajante (TSP)</a:t>
                      </a:r>
                    </a:p>
                  </a:txBody>
                  <a:tcPr>
                    <a:solidFill>
                      <a:srgbClr val="1215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Ordenação de Grãos no Opcoda</a:t>
                      </a:r>
                    </a:p>
                  </a:txBody>
                  <a:tcPr>
                    <a:solidFill>
                      <a:srgbClr val="1215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Grão Sonoro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Distância entre cidades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Diferença entre grãos consecutivas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Rota percorrida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Sequência temporal de reprodução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Custo total da rota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Custo total acumulado das transições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846320"/>
            <a:ext cx="1072865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“O problema pode ser tratado formalmente como uma otimização de permutação.”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ALGORITMO · METAHEURÍSTICA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O que é Têmpera Simulada?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Metaheurística de otimização combinatória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Inspirada no processo físico de resfriamento e recozimento de metais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Explora o espaço de soluções aceitando movimentos piores temporariamente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Reduz progressivamente a temperatura ao longo das iterações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63440"/>
            <a:ext cx="1072865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63440"/>
            <a:ext cx="109728" cy="118872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1518"/>
                </a:solidFill>
                <a:latin typeface="Arial"/>
              </a:defRPr>
            </a:pPr>
            <a:r>
              <a:t>“Permitir movimentos piores ajuda a escapar de mínimos locais.”</a:t>
            </a:r>
          </a:p>
          <a:p>
            <a:pPr>
              <a:defRPr sz="1500">
                <a:solidFill>
                  <a:srgbClr val="5A6065"/>
                </a:solidFill>
              </a:defRPr>
            </a:pPr>
            <a:r>
              <a:t>Referência: Kirkpatrick, Gelatt e Vecchi (1983)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FLUXO DE EXECUÇÃO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Funcionamento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Solução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77440"/>
            <a:ext cx="365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28600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Gerar Vizinha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377440"/>
            <a:ext cx="365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Calcular Custo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365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1371600" cy="822960"/>
          </a:xfrm>
          <a:prstGeom prst="rect">
            <a:avLst/>
          </a:prstGeom>
          <a:solidFill>
            <a:srgbClr val="0E1013"/>
          </a:solidFill>
          <a:ln w="19050">
            <a:solidFill>
              <a:srgbClr val="0E1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9A00"/>
                </a:solidFill>
                <a:latin typeface="Arial"/>
              </a:defRPr>
            </a:pPr>
            <a:r>
              <a:t>Melhorou?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77440"/>
            <a:ext cx="365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28600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Reduzir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377440"/>
            <a:ext cx="365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A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28600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0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Repetir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51206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SE MELHOROU (Δ ≤ 0):</a:t>
            </a:r>
          </a:p>
          <a:p>
            <a:pPr>
              <a:defRPr sz="1800">
                <a:solidFill>
                  <a:srgbClr val="121518"/>
                </a:solidFill>
              </a:defRPr>
            </a:pPr>
            <a:r>
              <a:t>A nova solução é aceita imediatamente como a solução corrente.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51206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</a:defRPr>
            </a:pPr>
            <a:r>
              <a:t>SE PIOROU (Δ &gt; 0):</a:t>
            </a:r>
          </a:p>
          <a:p>
            <a:pPr>
              <a:defRPr sz="1800">
                <a:solidFill>
                  <a:srgbClr val="121518"/>
                </a:solidFill>
              </a:defRPr>
            </a:pPr>
            <a:r>
              <a:t>Calcula-se a probabilidade P = exp(-Δ/T). Se random(0,1) &lt; P, a solução é aceita.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MODELAGEM · ESTRUTURA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Como representamos uma solução?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21518"/>
                </a:solidFill>
                <a:latin typeface="Arial"/>
              </a:defRPr>
            </a:pPr>
            <a:r>
              <a:t>S  =  [  G₁ ,  G₂ ,  G₃ ,  G₄ ,  G₅ 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Cada Gᵢ representa um grão sonoro individual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A solução formal é uma permutação dos índices dos grãos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A ordem temporal do vetor define a sequência de reprodução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O algoritmo busca a permutação que minimize o custo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FUNÇÃO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Como avaliar uma sequência?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4864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21518"/>
                </a:solidFill>
                <a:latin typeface="Arial"/>
              </a:defRPr>
            </a:pPr>
            <a:r>
              <a:t>C(S) = ∑ d(Gᵢ , Gᵢ₊₁)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A6065"/>
                </a:solidFill>
                <a:latin typeface="Arial"/>
              </a:defRPr>
            </a:pPr>
            <a:r>
              <a:t>d(Gᵢ, Gᵢ₊₁)  =</a:t>
            </a:r>
            <a:br/>
            <a:r>
              <a:t>diferença entre dois grãos consecutivos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Cada transição de reprodução possui um custo associado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Os custos de transição são acumulados linearmente na sequência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O objetivo da têmpera simulada é minimizar C(S)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A6065"/>
                </a:solidFill>
              </a:defRPr>
            </a:pPr>
            <a:r>
              <a:t>A métrica d(Gᵢ, Gᵢ₊₁) é tratada de forma abstrata neste estágio e será calibrada experimentalmente.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VIZINHANÇA · MUTAÇÃO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Como gerar uma nova solução?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1518"/>
                </a:solidFill>
                <a:latin typeface="Arial"/>
              </a:defRPr>
            </a:pPr>
            <a:r>
              <a:t>ATUAL:       A  →  B  →  [ C  →  D  →  E ]  →  F</a:t>
            </a:r>
          </a:p>
          <a:p>
            <a:pPr>
              <a:defRPr sz="1800" b="1">
                <a:solidFill>
                  <a:srgbClr val="FF9A00"/>
                </a:solidFill>
              </a:defRPr>
            </a:pPr>
            <a:r>
              <a:t>                                       ↓ Inversão do segmento 2-opt</a:t>
            </a:r>
          </a:p>
          <a:p>
            <a:pPr>
              <a:defRPr sz="2200" b="1">
                <a:solidFill>
                  <a:srgbClr val="FF9A00"/>
                </a:solidFill>
              </a:defRPr>
            </a:pPr>
            <a:r>
              <a:t>VIZINHA:    A  →  B  →  [ E  →  D  →  C ]  → 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Dois pontos de corte da sequência são selecionados aleatoriamente</a:t>
            </a:r>
          </a:p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O segmento intermediário é invertido gerando uma nova permutação</a:t>
            </a:r>
          </a:p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Uma nova sequência válida é criada sem repetições de elementos</a:t>
            </a:r>
          </a:p>
          <a:p>
            <a:pPr>
              <a:spcAft>
                <a:spcPts val="2000"/>
              </a:spcAft>
              <a:defRPr sz="2100" b="0">
                <a:solidFill>
                  <a:srgbClr val="121518"/>
                </a:solidFill>
                <a:latin typeface="Arial"/>
              </a:defRPr>
            </a:pPr>
            <a:r>
              <a:t>■   2-opt é a estratégia de vizinhança padrão em problemas de roteamento/TSP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CRITÉRIO DE METROPOLIS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E se a nova solução for pior?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1206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latin typeface="Arial"/>
              </a:defRPr>
            </a:pPr>
            <a:r>
              <a:t>Δ = C(nova) − C(atual)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03120"/>
            <a:ext cx="51206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9A00"/>
                </a:solidFill>
                <a:latin typeface="Arial"/>
              </a:defRPr>
            </a:pPr>
            <a:r>
              <a:t>P = e^(−Δ / 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0">
                <a:solidFill>
                  <a:srgbClr val="121518"/>
                </a:solidFill>
                <a:latin typeface="Arial"/>
              </a:defRPr>
            </a:pPr>
            <a:r>
              <a:t>■   Se Δ ≤ 0 → Nova solução é melhor: aceita incondicionalmente</a:t>
            </a:r>
          </a:p>
          <a:p>
            <a:pPr>
              <a:spcAft>
                <a:spcPts val="2000"/>
              </a:spcAft>
              <a:defRPr sz="2200" b="0">
                <a:solidFill>
                  <a:srgbClr val="121518"/>
                </a:solidFill>
                <a:latin typeface="Arial"/>
              </a:defRPr>
            </a:pPr>
            <a:r>
              <a:t>■   Se Δ &gt; 0 → Nova solução é pior: pode ser aceita com probabilidade P</a:t>
            </a:r>
          </a:p>
          <a:p>
            <a:pPr>
              <a:spcAft>
                <a:spcPts val="2000"/>
              </a:spcAft>
              <a:defRPr sz="2200" b="0">
                <a:solidFill>
                  <a:srgbClr val="121518"/>
                </a:solidFill>
                <a:latin typeface="Arial"/>
              </a:defRPr>
            </a:pPr>
            <a:r>
              <a:t>■   A probabilidade de aceitar pioras depende de Δ e da temperatura T</a:t>
            </a:r>
          </a:p>
          <a:p>
            <a:pPr>
              <a:spcAft>
                <a:spcPts val="2000"/>
              </a:spcAft>
              <a:defRPr sz="2200" b="0">
                <a:solidFill>
                  <a:srgbClr val="121518"/>
                </a:solidFill>
                <a:latin typeface="Arial"/>
              </a:defRPr>
            </a:pPr>
            <a:r>
              <a:t>■   Conforme o sistema resfria (T diminui), a aceitação de pioras cai a quase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PARÂMETROS · RESFRIAMENTO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Parâmetros da Têmpera Simulada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828800"/>
                <a:gridCol w="4785055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Parâmetro</a:t>
                      </a:r>
                    </a:p>
                  </a:txBody>
                  <a:tcPr>
                    <a:solidFill>
                      <a:srgbClr val="1215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Símbolo</a:t>
                      </a:r>
                    </a:p>
                  </a:txBody>
                  <a:tcPr>
                    <a:solidFill>
                      <a:srgbClr val="1215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Definição / Papel</a:t>
                      </a:r>
                    </a:p>
                  </a:txBody>
                  <a:tcPr>
                    <a:solidFill>
                      <a:srgbClr val="1215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Temperatura inicial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T₀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Taxa inicial de exploração de soluções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Temperatura 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Tmin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Critério de parada do resfriamento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Fator de redução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Esquema geométrico: Tnovo = α · Tatual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Critério de vizinhança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9A00"/>
                          </a:solidFill>
                          <a:latin typeface="Arial"/>
                        </a:defRPr>
                      </a:pPr>
                      <a:r>
                        <a:t>2-opt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21518"/>
                          </a:solidFill>
                          <a:latin typeface="Arial"/>
                        </a:defRPr>
                      </a:pPr>
                      <a:r>
                        <a:t>Operador de mutação e perturbação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120640"/>
            <a:ext cx="10728655" cy="73152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5A6065"/>
                </a:solidFill>
              </a:defRPr>
            </a:pPr>
            <a:r>
              <a:t>Os valores numéricos de T₀, Tmin e α serão definidos e avaliados experimentalmente nos ensaios.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IMPLEMENTAÇÃO · 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Algoritmo proposto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728655" cy="384048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37160" cy="384048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Gerar solução inicial</a:t>
            </a:r>
          </a:p>
          <a:p>
            <a:pPr>
              <a:spcAft>
                <a:spcPts val="800"/>
              </a:spcAft>
              <a:defRPr sz="2100" b="1">
                <a:solidFill>
                  <a:srgbClr val="FF9A00"/>
                </a:solidFill>
                <a:latin typeface="Consolas"/>
              </a:defRPr>
            </a:pPr>
            <a:r>
              <a:t>Enquanto T &gt; Tmin: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gerar solução vizinha via 2-opt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calcular Δ = C(vizinha) − C(solução)</a:t>
            </a:r>
          </a:p>
          <a:p>
            <a:pPr>
              <a:spcAft>
                <a:spcPts val="800"/>
              </a:spcAft>
              <a:defRPr sz="2100" b="1">
                <a:solidFill>
                  <a:srgbClr val="FF9A00"/>
                </a:solidFill>
                <a:latin typeface="Consolas"/>
              </a:defRPr>
            </a:pPr>
            <a:r>
              <a:t>    Se Δ ≤ 0 ou random(0, 1) &lt; exp(−Δ / T):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    solução = vizinha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    atualizar melhor solução encontrada</a:t>
            </a:r>
          </a:p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reduzir T = α · T</a:t>
            </a:r>
          </a:p>
          <a:p>
            <a:pPr>
              <a:spcAft>
                <a:spcPts val="800"/>
              </a:spcAft>
              <a:defRPr sz="2100" b="1">
                <a:solidFill>
                  <a:srgbClr val="FF9A00"/>
                </a:solidFill>
                <a:latin typeface="Consolas"/>
              </a:defRPr>
            </a:pPr>
            <a:r>
              <a:t>Retornar melhor solução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INTEGRAÇÃO · ARQUITETURA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Onde o algoritmo entra?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4990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A6065"/>
                </a:solidFill>
                <a:latin typeface="Arial"/>
              </a:defRPr>
            </a:pPr>
            <a:r>
              <a:t>1. ENTRADA</a:t>
            </a:r>
          </a:p>
          <a:p>
            <a:pPr>
              <a:defRPr sz="1800" b="1">
                <a:solidFill>
                  <a:srgbClr val="121518"/>
                </a:solidFill>
                <a:latin typeface="Arial"/>
              </a:defRPr>
            </a:pPr>
            <a:r>
              <a:t>.EXE → Bytes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24990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A6065"/>
                </a:solidFill>
                <a:latin typeface="Arial"/>
              </a:defRPr>
            </a:pPr>
            <a:r>
              <a:t>2. PARTICIONAMENTO</a:t>
            </a:r>
          </a:p>
          <a:p>
            <a:pPr>
              <a:defRPr sz="1800" b="1">
                <a:solidFill>
                  <a:srgbClr val="121518"/>
                </a:solidFill>
                <a:latin typeface="Arial"/>
              </a:defRPr>
            </a:pPr>
            <a:r>
              <a:t>Blocos → Grãos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2499055" cy="1188720"/>
          </a:xfrm>
          <a:prstGeom prst="rect">
            <a:avLst/>
          </a:prstGeom>
          <a:solidFill>
            <a:srgbClr val="FFFDF9"/>
          </a:solidFill>
          <a:ln w="2540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9A00"/>
                </a:solidFill>
                <a:latin typeface="Arial"/>
              </a:defRPr>
            </a:pPr>
            <a:r>
              <a:t>3. OTIMIZAÇÃO</a:t>
            </a:r>
          </a:p>
          <a:p>
            <a:pPr>
              <a:defRPr sz="1800" b="1">
                <a:solidFill>
                  <a:srgbClr val="FF9A00"/>
                </a:solidFill>
                <a:latin typeface="Arial"/>
              </a:defRPr>
            </a:pPr>
            <a:r>
              <a:t>Têmpera Simulada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103120"/>
            <a:ext cx="249905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A6065"/>
                </a:solidFill>
                <a:latin typeface="Arial"/>
              </a:defRPr>
            </a:pPr>
            <a:r>
              <a:t>4. SÍNTESE</a:t>
            </a:r>
          </a:p>
          <a:p>
            <a:pPr>
              <a:defRPr sz="1800" b="1">
                <a:solidFill>
                  <a:srgbClr val="121518"/>
                </a:solidFill>
                <a:latin typeface="Arial"/>
              </a:defRPr>
            </a:pPr>
            <a:r>
              <a:t>Áudio Granular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A Têmpera Simulada atua na reorganização dos grãos antes da síntese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Não substitui a leitura de bytes, apenas redefine a ordem temporal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O processamento ocorre de forma desacoplada para preservar o tempo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METODOLOGIA · AVALIAÇÃO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Avaliação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Custo da sequência inicial vs. custo da sequência otimizada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Evolução do custo em função do número de iterações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Comportamento da curva de temperatura ao longo do tempo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Comparação de desempenho entre diferentes configurações de parâmetros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728655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21518"/>
                </a:solidFill>
              </a:defRPr>
            </a:pPr>
            <a:r>
              <a:t>“Resultados quantitativos ainda dependem da implementação completa e dos experimentos.”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RESULTADOS ESPERADOS ·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O que a abordagem acrescenta ao Opcoda?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Introduz técnicas de otimização combinatória à arquitetura do projeto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Permite estudar formalmente diferentes ordenações de grãos sonoros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Relaciona algoritmos de Programação Linear à computação musical</a:t>
            </a:r>
          </a:p>
          <a:p>
            <a:pPr>
              <a:spcAft>
                <a:spcPts val="2000"/>
              </a:spcAft>
              <a:defRPr sz="2300" b="0">
                <a:solidFill>
                  <a:srgbClr val="121518"/>
                </a:solidFill>
                <a:latin typeface="Arial"/>
              </a:defRPr>
            </a:pPr>
            <a:r>
              <a:t>■   Cria uma abordagem experimental estruturada para a organização do áudio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FUNDAMENTAÇÃO ACADÊMICA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1518"/>
                </a:solidFill>
                <a:latin typeface="Arial"/>
              </a:defRPr>
            </a:pPr>
            <a:r>
              <a:t>Referências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21518"/>
                </a:solidFill>
                <a:latin typeface="Arial"/>
              </a:defRPr>
            </a:pPr>
            <a:r>
              <a:t>KIRKPATRICK, S.; GELATT, C. D.; VECCHI, M. P. Optimization by Simulated Annealing. Science, 1983.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39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21518"/>
                </a:solidFill>
                <a:latin typeface="Arial"/>
              </a:defRPr>
            </a:pPr>
            <a:r>
              <a:t>AARTS, E. H. L.; VAN LAARHOVEN, P. J. M. Simulated Annealing: An Introduction. 1989.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21518"/>
                </a:solidFill>
                <a:latin typeface="Arial"/>
              </a:defRPr>
            </a:pPr>
            <a:r>
              <a:t>TRIKI, E.; COLLETTE, Y.; SIARRY, P. A Theoretical Study on the Behavior of Simulated Annealing Leading to a New Cooling Schedule. 2005.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822960"/>
          </a:xfrm>
          <a:prstGeom prst="rect">
            <a:avLst/>
          </a:prstGeom>
          <a:solidFill>
            <a:srgbClr val="FFFFFF"/>
          </a:solidFill>
          <a:ln>
            <a:solidFill>
              <a:srgbClr val="D8D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0">
                <a:solidFill>
                  <a:srgbClr val="121518"/>
                </a:solidFill>
                <a:latin typeface="Arial"/>
              </a:defRPr>
            </a:pPr>
            <a:r>
              <a:t>ROADS, Curtis. Microsound. MIT Press, 2004.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A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A6065"/>
                </a:solidFill>
                <a:latin typeface="Arial"/>
              </a:defRPr>
            </a:pPr>
            <a:r>
              <a:t>CONCLUSÃO · AGRADECIMENTOS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728655" cy="18288"/>
          </a:xfrm>
          <a:prstGeom prst="rect">
            <a:avLst/>
          </a:prstGeom>
          <a:solidFill>
            <a:srgbClr val="12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21518"/>
                </a:solidFill>
                <a:latin typeface="Arial"/>
              </a:defRPr>
            </a:pPr>
            <a:r>
              <a:t>Opcoda + Otimização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926080"/>
            <a:ext cx="548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A0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83464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OTIMIZAÇÃO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2926080"/>
            <a:ext cx="548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A00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19" y="2834640"/>
            <a:ext cx="21945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518"/>
                </a:solidFill>
                <a:latin typeface="Arial"/>
              </a:defRPr>
            </a:pPr>
            <a:r>
              <a:t>SÍNTESE GRANULAR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39" y="2926080"/>
            <a:ext cx="548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9A00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79" y="2834640"/>
            <a:ext cx="1737360" cy="914400"/>
          </a:xfrm>
          <a:prstGeom prst="rect">
            <a:avLst/>
          </a:prstGeom>
          <a:solidFill>
            <a:srgbClr val="FF9A0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OPCODA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4297680"/>
            <a:ext cx="6339535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434840"/>
            <a:ext cx="6126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1518"/>
                </a:solidFill>
                <a:latin typeface="Arial"/>
              </a:defRPr>
            </a:pPr>
            <a:r>
              <a:t>Mateus Costa · Rafael Elisei</a:t>
            </a:r>
          </a:p>
          <a:p>
            <a:pPr algn="ctr">
              <a:defRPr sz="1600">
                <a:solidFill>
                  <a:srgbClr val="5A6065"/>
                </a:solidFill>
                <a:latin typeface="Arial"/>
              </a:defRPr>
            </a:pPr>
            <a:r>
              <a:t>FATEC Cruzeiro · 5º semestre de Análise e Desenvolvimento de Sistemas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8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6065"/>
                </a:solidFill>
                <a:latin typeface="Arial"/>
              </a:defRPr>
            </a:pPr>
            <a:r>
              <a:t>OPCODA · OTIMIZAÇÃO POR TÊMPERA SIMULADA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263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A6065"/>
                </a:solidFill>
                <a:latin typeface="Arial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